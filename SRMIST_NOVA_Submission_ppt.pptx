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Opening slide for the 3rd edition of the PRISM Generative AI Hackathon. Replace the SAMSUNG PRISM pill with the official PRISM logo image if you have the asset. Confirm the academic year label (2026-27) before circulating.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a:r>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0">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8"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9"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6" name="Title Text"/>
          <p:cNvSpPr txBox="1"/>
          <p:nvPr>
            <p:ph type="title"/>
          </p:nvPr>
        </p:nvSpPr>
        <p:spPr>
          <a:xfrm>
            <a:off x="839787" y="365125"/>
            <a:ext cx="10515601" cy="1325563"/>
          </a:xfrm>
          <a:prstGeom prst="rect">
            <a:avLst/>
          </a:prstGeom>
        </p:spPr>
        <p:txBody>
          <a:bodyPr/>
          <a:lstStyle/>
          <a:p>
            <a:pPr/>
            <a:r>
              <a:t>Title Text</a:t>
            </a:r>
          </a:p>
        </p:txBody>
      </p:sp>
      <p:sp>
        <p:nvSpPr>
          <p:cNvPr id="57"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8"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6" name="Title Text"/>
          <p:cNvSpPr txBox="1"/>
          <p:nvPr>
            <p:ph type="title"/>
          </p:nvPr>
        </p:nvSpPr>
        <p:spPr>
          <a:prstGeom prst="rect">
            <a:avLst/>
          </a:prstGeom>
        </p:spPr>
        <p:txBody>
          <a:bodyPr/>
          <a:lstStyle/>
          <a:p>
            <a:pPr/>
            <a:r>
              <a:t>Title Text</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1"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2"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83"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1"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92"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93"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01"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0"/>
          <p:cNvSpPr/>
          <p:nvPr/>
        </p:nvSpPr>
        <p:spPr>
          <a:xfrm>
            <a:off x="777240" y="676655"/>
            <a:ext cx="2423161" cy="347473"/>
          </a:xfrm>
          <a:prstGeom prst="roundRect">
            <a:avLst>
              <a:gd name="adj" fmla="val 50000"/>
            </a:avLst>
          </a:prstGeom>
          <a:solidFill>
            <a:srgbClr val="FFFFFF"/>
          </a:solidFill>
          <a:ln w="12700">
            <a:solidFill>
              <a:srgbClr val="D9D3F0"/>
            </a:solidFill>
          </a:ln>
        </p:spPr>
        <p:txBody>
          <a:bodyPr lIns="45719" rIns="45719"/>
          <a:lstStyle/>
          <a:p>
            <a:pPr/>
          </a:p>
        </p:txBody>
      </p:sp>
      <p:sp>
        <p:nvSpPr>
          <p:cNvPr id="111" name="Text 1"/>
          <p:cNvSpPr txBox="1"/>
          <p:nvPr/>
        </p:nvSpPr>
        <p:spPr>
          <a:xfrm>
            <a:off x="777240" y="776477"/>
            <a:ext cx="242316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10" sz="1100">
                <a:solidFill>
                  <a:srgbClr val="6D28D9"/>
                </a:solidFill>
                <a:latin typeface="Arial"/>
                <a:ea typeface="Arial"/>
                <a:cs typeface="Arial"/>
                <a:sym typeface="Arial"/>
              </a:defRPr>
            </a:lvl1pPr>
          </a:lstStyle>
          <a:p>
            <a:pPr/>
            <a:r>
              <a:t>SAMSUNG PRISM</a:t>
            </a:r>
          </a:p>
        </p:txBody>
      </p:sp>
      <p:sp>
        <p:nvSpPr>
          <p:cNvPr id="112" name="Text 2"/>
          <p:cNvSpPr txBox="1"/>
          <p:nvPr/>
        </p:nvSpPr>
        <p:spPr>
          <a:xfrm>
            <a:off x="777240" y="1223998"/>
            <a:ext cx="6126480" cy="715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14142B"/>
                </a:solidFill>
                <a:latin typeface="Arial"/>
                <a:ea typeface="Arial"/>
                <a:cs typeface="Arial"/>
                <a:sym typeface="Arial"/>
              </a:defRPr>
            </a:lvl1pPr>
          </a:lstStyle>
          <a:p>
            <a:pPr/>
            <a:r>
              <a:t>Generative AI</a:t>
            </a:r>
          </a:p>
        </p:txBody>
      </p:sp>
      <p:sp>
        <p:nvSpPr>
          <p:cNvPr id="113" name="Text 3"/>
          <p:cNvSpPr txBox="1"/>
          <p:nvPr/>
        </p:nvSpPr>
        <p:spPr>
          <a:xfrm>
            <a:off x="777240" y="1918942"/>
            <a:ext cx="6126480" cy="715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6D28D9"/>
                </a:solidFill>
                <a:latin typeface="Arial"/>
                <a:ea typeface="Arial"/>
                <a:cs typeface="Arial"/>
                <a:sym typeface="Arial"/>
              </a:defRPr>
            </a:lvl1pPr>
          </a:lstStyle>
          <a:p>
            <a:pPr/>
            <a:r>
              <a:t>Hackathon</a:t>
            </a:r>
          </a:p>
        </p:txBody>
      </p:sp>
      <p:sp>
        <p:nvSpPr>
          <p:cNvPr id="114" name="Text 4"/>
          <p:cNvSpPr txBox="1"/>
          <p:nvPr/>
        </p:nvSpPr>
        <p:spPr>
          <a:xfrm>
            <a:off x="777240" y="2774555"/>
            <a:ext cx="612648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500">
                <a:solidFill>
                  <a:srgbClr val="14142B"/>
                </a:solidFill>
                <a:latin typeface="Arial"/>
                <a:ea typeface="Arial"/>
                <a:cs typeface="Arial"/>
                <a:sym typeface="Arial"/>
              </a:defRPr>
            </a:pPr>
            <a:r>
              <a:t>3rd Edition</a:t>
            </a:r>
            <a:r>
              <a:rPr b="0" sz="2000">
                <a:solidFill>
                  <a:srgbClr val="63637E"/>
                </a:solidFill>
                <a:latin typeface="+mj-lt"/>
                <a:ea typeface="+mj-ea"/>
                <a:cs typeface="+mj-cs"/>
                <a:sym typeface="Calibri"/>
              </a:rPr>
              <a:t>   2026 – 27</a:t>
            </a:r>
          </a:p>
        </p:txBody>
      </p:sp>
      <p:sp>
        <p:nvSpPr>
          <p:cNvPr id="115" name="Text 5"/>
          <p:cNvSpPr txBox="1"/>
          <p:nvPr/>
        </p:nvSpPr>
        <p:spPr>
          <a:xfrm>
            <a:off x="777239" y="3310128"/>
            <a:ext cx="5852162" cy="300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500"/>
              </a:spcBef>
              <a:buSzPct val="100000"/>
              <a:buChar char="•"/>
              <a:defRPr sz="1600">
                <a:solidFill>
                  <a:srgbClr val="63637E"/>
                </a:solidFill>
              </a:defRPr>
            </a:pPr>
            <a:r>
              <a:t>Theme ID – Theme 1</a:t>
            </a:r>
          </a:p>
          <a:p>
            <a:pPr marL="177800" indent="-177800">
              <a:spcBef>
                <a:spcPts val="500"/>
              </a:spcBef>
              <a:buSzPct val="100000"/>
              <a:buChar char="•"/>
              <a:defRPr sz="1600">
                <a:solidFill>
                  <a:srgbClr val="63637E"/>
                </a:solidFill>
              </a:defRPr>
            </a:pPr>
            <a:r>
              <a:t>Team Name – SRMIST_NOVA</a:t>
            </a:r>
          </a:p>
          <a:p>
            <a:pPr marL="177800" indent="-177800">
              <a:spcBef>
                <a:spcPts val="500"/>
              </a:spcBef>
              <a:buSzPct val="100000"/>
              <a:buChar char="•"/>
              <a:defRPr sz="1600">
                <a:solidFill>
                  <a:srgbClr val="63637E"/>
                </a:solidFill>
              </a:defRPr>
            </a:pPr>
            <a:r>
              <a:t>College Name – SRM Institute of Science &amp; Technology</a:t>
            </a:r>
          </a:p>
          <a:p>
            <a:pPr marL="177800" indent="-177800">
              <a:spcBef>
                <a:spcPts val="500"/>
              </a:spcBef>
              <a:buSzPct val="100000"/>
              <a:buChar char="•"/>
              <a:defRPr sz="1600">
                <a:solidFill>
                  <a:srgbClr val="63637E"/>
                </a:solidFill>
              </a:defRPr>
            </a:pPr>
            <a:r>
              <a:t>Member Name &amp; Email 1- Deshna Dey (dd2942@srmist.edu.in)</a:t>
            </a:r>
          </a:p>
          <a:p>
            <a:pPr marL="177800" indent="-177800">
              <a:spcBef>
                <a:spcPts val="500"/>
              </a:spcBef>
              <a:buSzPct val="100000"/>
              <a:buChar char="•"/>
              <a:defRPr sz="1600">
                <a:solidFill>
                  <a:srgbClr val="63637E"/>
                </a:solidFill>
              </a:defRPr>
            </a:pPr>
            <a:r>
              <a:t>Member Name &amp; Email 2- Anoushka Nayak (an1565@srmist.edu.in)</a:t>
            </a:r>
          </a:p>
          <a:p>
            <a:pPr marL="177800" indent="-177800">
              <a:spcBef>
                <a:spcPts val="500"/>
              </a:spcBef>
              <a:buSzPct val="100000"/>
              <a:buChar char="•"/>
              <a:defRPr sz="1600">
                <a:solidFill>
                  <a:srgbClr val="63637E"/>
                </a:solidFill>
              </a:defRPr>
            </a:pPr>
            <a:r>
              <a:t>Member Name &amp; Email 3- Aleesha Bhave (ab0373@srmist.edu.in)</a:t>
            </a:r>
          </a:p>
          <a:p>
            <a:pPr marL="177800" indent="-177800">
              <a:spcBef>
                <a:spcPts val="500"/>
              </a:spcBef>
              <a:buSzPct val="100000"/>
              <a:buChar char="•"/>
              <a:defRPr sz="1600">
                <a:solidFill>
                  <a:srgbClr val="63637E"/>
                </a:solidFill>
              </a:defRPr>
            </a:pPr>
            <a:r>
              <a:t>Member Name &amp; Email 4- Shanavi Santhana (ss9680@srmist.edu.in)</a:t>
            </a:r>
          </a:p>
          <a:p>
            <a:pPr marL="177800" indent="-177800">
              <a:spcBef>
                <a:spcPts val="500"/>
              </a:spcBef>
              <a:buSzPct val="100000"/>
              <a:buChar char="•"/>
              <a:defRPr sz="1600">
                <a:solidFill>
                  <a:srgbClr val="63637E"/>
                </a:solidFill>
              </a:defRPr>
            </a:pPr>
            <a:r>
              <a:t>Submission Github link - https://github.com/DeshnaDey/Samsung-PRISM.git</a:t>
            </a:r>
          </a:p>
        </p:txBody>
      </p:sp>
      <p:pic>
        <p:nvPicPr>
          <p:cNvPr id="116" name="Image 0" descr="Image 0"/>
          <p:cNvPicPr>
            <a:picLocks noChangeAspect="1"/>
          </p:cNvPicPr>
          <p:nvPr/>
        </p:nvPicPr>
        <p:blipFill>
          <a:blip r:embed="rId3">
            <a:extLst/>
          </a:blip>
          <a:stretch>
            <a:fillRect/>
          </a:stretch>
        </p:blipFill>
        <p:spPr>
          <a:xfrm>
            <a:off x="7059168" y="1051560"/>
            <a:ext cx="4572001" cy="45720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Theme</a:t>
            </a:r>
          </a:p>
        </p:txBody>
      </p:sp>
      <p:sp>
        <p:nvSpPr>
          <p:cNvPr id="121" name="Content Placeholder 2"/>
          <p:cNvSpPr txBox="1"/>
          <p:nvPr>
            <p:ph type="body" idx="1"/>
          </p:nvPr>
        </p:nvSpPr>
        <p:spPr>
          <a:xfrm>
            <a:off x="838200" y="1690688"/>
            <a:ext cx="10744200" cy="5176521"/>
          </a:xfrm>
          <a:prstGeom prst="rect">
            <a:avLst/>
          </a:prstGeom>
        </p:spPr>
        <p:txBody>
          <a:bodyPr/>
          <a:lstStyle/>
          <a:p>
            <a:pPr>
              <a:defRPr sz="1600" u="sng">
                <a:solidFill>
                  <a:srgbClr val="595959"/>
                </a:solidFill>
              </a:defRPr>
            </a:pPr>
            <a:r>
              <a:t>Problem</a:t>
            </a:r>
            <a:r>
              <a:rPr u="none"/>
              <a:t>: You give the system a question in plain English. It searches a set of code snippets and ranks them from most to least relevant.</a:t>
            </a:r>
            <a:endParaRPr u="none"/>
          </a:p>
          <a:p>
            <a:pPr>
              <a:defRPr sz="1600">
                <a:solidFill>
                  <a:srgbClr val="595959"/>
                </a:solidFill>
              </a:defRPr>
            </a:pPr>
          </a:p>
          <a:p>
            <a:pPr>
              <a:defRPr sz="1600" u="sng">
                <a:solidFill>
                  <a:srgbClr val="595959"/>
                </a:solidFill>
              </a:defRPr>
            </a:pPr>
            <a:r>
              <a:t>Scope</a:t>
            </a:r>
            <a:r>
              <a:rPr u="none"/>
              <a:t>: Natural-language-to-code retrieval.</a:t>
            </a:r>
            <a:endParaRPr u="none"/>
          </a:p>
          <a:p>
            <a:pPr marL="0" indent="0">
              <a:buSzTx/>
              <a:buNone/>
              <a:defRPr sz="1600">
                <a:solidFill>
                  <a:srgbClr val="595959"/>
                </a:solidFill>
              </a:defRPr>
            </a:pPr>
            <a:r>
              <a:t>Given: a plain-English query, and a set of code snippets (up to a few thousand, of different lengths).</a:t>
            </a:r>
          </a:p>
          <a:p>
            <a:pPr marL="0" indent="0">
              <a:buSzTx/>
              <a:buNone/>
              <a:defRPr sz="1600">
                <a:solidFill>
                  <a:srgbClr val="595959"/>
                </a:solidFill>
              </a:defRPr>
            </a:pPr>
            <a:r>
              <a:t>Task: return the snippets sorted by how well they answer the query.</a:t>
            </a:r>
          </a:p>
          <a:p>
            <a:pPr marL="0" indent="0">
              <a:buSzTx/>
              <a:buNone/>
              <a:defRPr sz="1600">
                <a:solidFill>
                  <a:srgbClr val="595959"/>
                </a:solidFill>
              </a:defRPr>
            </a:pPr>
          </a:p>
          <a:p>
            <a:pPr>
              <a:defRPr sz="1600" u="sng">
                <a:solidFill>
                  <a:srgbClr val="595959"/>
                </a:solidFill>
              </a:defRPr>
            </a:pPr>
            <a:r>
              <a:t>Constraints:</a:t>
            </a:r>
          </a:p>
          <a:p>
            <a:pPr>
              <a:buFontTx/>
              <a:buChar char="-"/>
              <a:defRPr sz="1600">
                <a:solidFill>
                  <a:srgbClr val="595959"/>
                </a:solidFill>
              </a:defRPr>
            </a:pPr>
            <a:r>
              <a:t>Runs on CPU only. No GPU needed, and it stays fast.</a:t>
            </a:r>
          </a:p>
          <a:p>
            <a:pPr>
              <a:buFontTx/>
              <a:buChar char="-"/>
              <a:defRPr sz="1600">
                <a:solidFill>
                  <a:srgbClr val="595959"/>
                </a:solidFill>
              </a:defRPr>
            </a:pPr>
            <a:r>
              <a:t>Evaluated via MTEB's AppsRetrieval task on CoIR-Retrieval/apps. This is a fixed harness, so every team is scored the same way.</a:t>
            </a:r>
          </a:p>
          <a:p>
            <a:pPr>
              <a:buFontTx/>
              <a:buChar char="-"/>
              <a:defRPr sz="1600">
                <a:solidFill>
                  <a:srgbClr val="595959"/>
                </a:solidFill>
              </a:defRPr>
            </a:pPr>
            <a:r>
              <a:t>Metrics: NDCG@10 and MRR. Both measure how close the correct snippet is to the top.</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Content Placeholder 2"/>
          <p:cNvSpPr txBox="1"/>
          <p:nvPr>
            <p:ph type="body" idx="1"/>
          </p:nvPr>
        </p:nvSpPr>
        <p:spPr>
          <a:prstGeom prst="rect">
            <a:avLst/>
          </a:prstGeom>
        </p:spPr>
        <p:txBody>
          <a:bodyPr/>
          <a:lstStyle/>
          <a:p>
            <a:pPr>
              <a:defRPr sz="2000" u="sng">
                <a:solidFill>
                  <a:srgbClr val="595959"/>
                </a:solidFill>
              </a:defRPr>
            </a:pPr>
            <a:r>
              <a:t>Goals and success criteria</a:t>
            </a:r>
            <a:r>
              <a:rPr u="none"/>
              <a:t>:</a:t>
            </a:r>
            <a:endParaRPr u="none"/>
          </a:p>
          <a:p>
            <a:pPr marL="0" indent="0">
              <a:buSzTx/>
              <a:buNone/>
              <a:defRPr sz="2000">
                <a:solidFill>
                  <a:srgbClr val="595959"/>
                </a:solidFill>
              </a:defRPr>
            </a:pPr>
            <a:r>
              <a:t>    P0: Retrieval accuracy. Find the right snippet.</a:t>
            </a:r>
          </a:p>
          <a:p>
            <a:pPr marL="0" indent="0">
              <a:buSzTx/>
              <a:buNone/>
              <a:defRPr sz="2000">
                <a:solidFill>
                  <a:srgbClr val="595959"/>
                </a:solidFill>
              </a:defRPr>
            </a:pPr>
            <a:r>
              <a:t>    P1: Retrieval across versions. Re-index a changed codebase quickly.</a:t>
            </a:r>
          </a:p>
          <a:p>
            <a:pPr marL="0" indent="0">
              <a:buSzTx/>
              <a:buNone/>
              <a:defRPr sz="2000">
                <a:solidFill>
                  <a:srgbClr val="595959"/>
                </a:solidFill>
              </a:defRPr>
            </a:pPr>
            <a:r>
              <a:t>Bonus: search across all versions at once, even when snippets look almost the same.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Existing Solutions &amp; Gaps</a:t>
            </a:r>
          </a:p>
        </p:txBody>
      </p:sp>
      <p:sp>
        <p:nvSpPr>
          <p:cNvPr id="126" name="Content Placeholder 2"/>
          <p:cNvSpPr txBox="1"/>
          <p:nvPr>
            <p:ph type="body" idx="1"/>
          </p:nvPr>
        </p:nvSpPr>
        <p:spPr>
          <a:prstGeom prst="rect">
            <a:avLst/>
          </a:prstGeom>
        </p:spPr>
        <p:txBody>
          <a:bodyPr/>
          <a:lstStyle/>
          <a:p>
            <a:pPr algn="just">
              <a:lnSpc>
                <a:spcPct val="150000"/>
              </a:lnSpc>
              <a:defRPr sz="1800">
                <a:solidFill>
                  <a:srgbClr val="595959"/>
                </a:solidFill>
              </a:defRPr>
            </a:pPr>
            <a:r>
              <a:t>Keyword search (BM25): fast and strong at exact matches like function names and error strings. But it misses questions that describe behaviour without naming it.</a:t>
            </a:r>
          </a:p>
          <a:p>
            <a:pPr algn="just">
              <a:lnSpc>
                <a:spcPct val="150000"/>
              </a:lnSpc>
              <a:defRPr sz="1800">
                <a:solidFill>
                  <a:srgbClr val="595959"/>
                </a:solidFill>
              </a:defRPr>
            </a:pPr>
            <a:r>
              <a:t>Meaning search (dense bi-encoder, e.g. all-MiniLM): understands meaning. But general models are trained on plain text, not code, so they miss code structure and identifiers. Note: scores on this task are low for every team, so ranking is relative.</a:t>
            </a:r>
          </a:p>
        </p:txBody>
      </p:sp>
      <p:graphicFrame>
        <p:nvGraphicFramePr>
          <p:cNvPr id="127" name="Table 3"/>
          <p:cNvGraphicFramePr/>
          <p:nvPr/>
        </p:nvGraphicFramePr>
        <p:xfrm>
          <a:off x="3281679" y="4001294"/>
          <a:ext cx="5628640" cy="200326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876213"/>
                <a:gridCol w="1876213"/>
                <a:gridCol w="1876213"/>
              </a:tblGrid>
              <a:tr h="903729">
                <a:tc>
                  <a:txBody>
                    <a:bodyPr/>
                    <a:lstStyle/>
                    <a:p>
                      <a:pPr algn="ctr">
                        <a:defRPr b="0" sz="1800">
                          <a:solidFill>
                            <a:srgbClr val="000000"/>
                          </a:solidFill>
                        </a:defRPr>
                      </a:pPr>
                      <a:r>
                        <a:rPr b="1">
                          <a:solidFill>
                            <a:srgbClr val="FFFFFF"/>
                          </a:solidFill>
                        </a:rPr>
                        <a:t>Metric</a:t>
                      </a:r>
                    </a:p>
                  </a:txBody>
                  <a:tcPr marL="45720" marR="45720" marT="45720" marB="45720" anchor="t" anchorCtr="0" horzOverflow="overflow"/>
                </a:tc>
                <a:tc>
                  <a:txBody>
                    <a:bodyPr/>
                    <a:lstStyle/>
                    <a:p>
                      <a:pPr algn="ctr">
                        <a:defRPr b="0" sz="1800">
                          <a:solidFill>
                            <a:srgbClr val="000000"/>
                          </a:solidFill>
                        </a:defRPr>
                      </a:pPr>
                      <a:r>
                        <a:rPr b="1">
                          <a:solidFill>
                            <a:srgbClr val="FFFFFF"/>
                          </a:solidFill>
                        </a:rPr>
                        <a:t>Baseline (all-MiniLM-L6-v2)</a:t>
                      </a:r>
                    </a:p>
                  </a:txBody>
                  <a:tcPr marL="45720" marR="45720" marT="45720" marB="45720" anchor="t" anchorCtr="0" horzOverflow="overflow"/>
                </a:tc>
                <a:tc>
                  <a:txBody>
                    <a:bodyPr/>
                    <a:lstStyle/>
                    <a:p>
                      <a:pPr algn="ctr">
                        <a:defRPr b="0" sz="1800">
                          <a:solidFill>
                            <a:srgbClr val="000000"/>
                          </a:solidFill>
                        </a:defRPr>
                      </a:pPr>
                      <a:r>
                        <a:rPr b="1">
                          <a:solidFill>
                            <a:srgbClr val="FFFFFF"/>
                          </a:solidFill>
                        </a:rPr>
                        <a:t>Current best (arctic-embed-m) </a:t>
                      </a:r>
                    </a:p>
                  </a:txBody>
                  <a:tcPr marL="45720" marR="45720" marT="45720" marB="45720" anchor="t" anchorCtr="0" horzOverflow="overflow"/>
                </a:tc>
              </a:tr>
              <a:tr h="366512">
                <a:tc>
                  <a:txBody>
                    <a:bodyPr/>
                    <a:lstStyle/>
                    <a:p>
                      <a:pPr algn="ctr">
                        <a:defRPr sz="1800"/>
                      </a:pPr>
                      <a:r>
                        <a:rPr>
                          <a:solidFill>
                            <a:srgbClr val="404040"/>
                          </a:solidFill>
                        </a:rPr>
                        <a:t>NDCG@10</a:t>
                      </a:r>
                    </a:p>
                  </a:txBody>
                  <a:tcPr marL="45720" marR="45720" marT="45720" marB="45720" anchor="t" anchorCtr="0" horzOverflow="overflow"/>
                </a:tc>
                <a:tc>
                  <a:txBody>
                    <a:bodyPr/>
                    <a:lstStyle/>
                    <a:p>
                      <a:pPr algn="ctr">
                        <a:defRPr sz="1800"/>
                      </a:pPr>
                      <a:r>
                        <a:rPr>
                          <a:solidFill>
                            <a:srgbClr val="404040"/>
                          </a:solidFill>
                        </a:rPr>
                        <a:t>0.066</a:t>
                      </a:r>
                    </a:p>
                  </a:txBody>
                  <a:tcPr marL="45720" marR="45720" marT="45720" marB="45720" anchor="ctr" anchorCtr="0" horzOverflow="overflow"/>
                </a:tc>
                <a:tc>
                  <a:txBody>
                    <a:bodyPr/>
                    <a:lstStyle/>
                    <a:p>
                      <a:pPr algn="ctr">
                        <a:defRPr sz="1800"/>
                      </a:pPr>
                      <a:r>
                        <a:rPr>
                          <a:solidFill>
                            <a:srgbClr val="404040"/>
                          </a:solidFill>
                        </a:rPr>
                        <a:t>0.082</a:t>
                      </a:r>
                    </a:p>
                  </a:txBody>
                  <a:tcPr marL="45720" marR="45720" marT="45720" marB="45720" anchor="ctr" anchorCtr="0" horzOverflow="overflow"/>
                </a:tc>
              </a:tr>
              <a:tr h="366512">
                <a:tc>
                  <a:txBody>
                    <a:bodyPr/>
                    <a:lstStyle/>
                    <a:p>
                      <a:pPr algn="ctr">
                        <a:defRPr sz="1800"/>
                      </a:pPr>
                      <a:r>
                        <a:rPr>
                          <a:solidFill>
                            <a:srgbClr val="404040"/>
                          </a:solidFill>
                        </a:rPr>
                        <a:t>MRR</a:t>
                      </a:r>
                    </a:p>
                  </a:txBody>
                  <a:tcPr marL="45720" marR="45720" marT="45720" marB="45720" anchor="t" anchorCtr="0" horzOverflow="overflow"/>
                </a:tc>
                <a:tc>
                  <a:txBody>
                    <a:bodyPr/>
                    <a:lstStyle/>
                    <a:p>
                      <a:pPr algn="ctr">
                        <a:defRPr sz="1800"/>
                      </a:pPr>
                      <a:r>
                        <a:rPr>
                          <a:solidFill>
                            <a:srgbClr val="404040"/>
                          </a:solidFill>
                        </a:rPr>
                        <a:t>0.056</a:t>
                      </a:r>
                    </a:p>
                  </a:txBody>
                  <a:tcPr marL="45720" marR="45720" marT="45720" marB="45720" anchor="ctr" anchorCtr="0" horzOverflow="overflow"/>
                </a:tc>
                <a:tc>
                  <a:txBody>
                    <a:bodyPr/>
                    <a:lstStyle/>
                    <a:p>
                      <a:pPr algn="ctr">
                        <a:defRPr sz="1800"/>
                      </a:pPr>
                      <a:r>
                        <a:rPr>
                          <a:solidFill>
                            <a:srgbClr val="404040"/>
                          </a:solidFill>
                        </a:rPr>
                        <a:t>0.068</a:t>
                      </a:r>
                    </a:p>
                  </a:txBody>
                  <a:tcPr marL="45720" marR="45720" marT="45720" marB="45720" anchor="ctr" anchorCtr="0" horzOverflow="overflow"/>
                </a:tc>
              </a:tr>
              <a:tr h="366512">
                <a:tc>
                  <a:txBody>
                    <a:bodyPr/>
                    <a:lstStyle/>
                    <a:p>
                      <a:pPr algn="ctr">
                        <a:defRPr sz="1800"/>
                      </a:pPr>
                      <a:r>
                        <a:rPr>
                          <a:solidFill>
                            <a:srgbClr val="404040"/>
                          </a:solidFill>
                        </a:rPr>
                        <a:t>Recall@100</a:t>
                      </a:r>
                    </a:p>
                  </a:txBody>
                  <a:tcPr marL="45720" marR="45720" marT="45720" marB="45720" anchor="t" anchorCtr="0" horzOverflow="overflow"/>
                </a:tc>
                <a:tc>
                  <a:txBody>
                    <a:bodyPr/>
                    <a:lstStyle/>
                    <a:p>
                      <a:pPr algn="ctr">
                        <a:defRPr sz="1800"/>
                      </a:pPr>
                      <a:r>
                        <a:rPr>
                          <a:solidFill>
                            <a:srgbClr val="404040"/>
                          </a:solidFill>
                        </a:rPr>
                        <a:t>0.253</a:t>
                      </a:r>
                    </a:p>
                  </a:txBody>
                  <a:tcPr marL="45720" marR="45720" marT="45720" marB="45720" anchor="t" anchorCtr="0" horzOverflow="overflow"/>
                </a:tc>
                <a:tc>
                  <a:txBody>
                    <a:bodyPr/>
                    <a:lstStyle/>
                    <a:p>
                      <a:pPr algn="ctr">
                        <a:defRPr sz="1800"/>
                      </a:pPr>
                      <a:r>
                        <a:rPr>
                          <a:solidFill>
                            <a:srgbClr val="404040"/>
                          </a:solidFill>
                        </a:rPr>
                        <a:t>0.307</a:t>
                      </a:r>
                    </a:p>
                  </a:txBody>
                  <a:tcPr marL="45720" marR="45720" marT="45720" marB="45720" anchor="t" anchorCtr="0" horzOverflow="overflow"/>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xfrm>
            <a:off x="909917" y="266512"/>
            <a:ext cx="10515601" cy="1325564"/>
          </a:xfrm>
          <a:prstGeom prst="rect">
            <a:avLst/>
          </a:prstGeom>
        </p:spPr>
        <p:txBody>
          <a:bodyPr/>
          <a:lstStyle>
            <a:lvl1pPr>
              <a:defRPr b="1">
                <a:solidFill>
                  <a:srgbClr val="704EA6"/>
                </a:solidFill>
                <a:latin typeface="+mj-lt"/>
                <a:ea typeface="+mj-ea"/>
                <a:cs typeface="+mj-cs"/>
                <a:sym typeface="Calibri"/>
              </a:defRPr>
            </a:lvl1pPr>
          </a:lstStyle>
          <a:p>
            <a:pPr/>
            <a:r>
              <a:t>Our Solution: What We Shipped</a:t>
            </a:r>
          </a:p>
        </p:txBody>
      </p:sp>
      <p:sp>
        <p:nvSpPr>
          <p:cNvPr id="130" name="Content Placeholder 2"/>
          <p:cNvSpPr txBox="1"/>
          <p:nvPr>
            <p:ph type="body" idx="1"/>
          </p:nvPr>
        </p:nvSpPr>
        <p:spPr>
          <a:prstGeom prst="rect">
            <a:avLst/>
          </a:prstGeom>
        </p:spPr>
        <p:txBody>
          <a:bodyPr/>
          <a:lstStyle/>
          <a:p>
            <a:pPr marL="0" indent="0">
              <a:buSzTx/>
              <a:buNone/>
              <a:defRPr sz="2400" u="sng">
                <a:solidFill>
                  <a:srgbClr val="595959"/>
                </a:solidFill>
              </a:defRPr>
            </a:pPr>
            <a:r>
              <a:t>What runs today</a:t>
            </a:r>
            <a:r>
              <a:rPr sz="1800" u="none"/>
              <a:t>:</a:t>
            </a:r>
          </a:p>
        </p:txBody>
      </p:sp>
      <p:pic>
        <p:nvPicPr>
          <p:cNvPr id="131" name="Picture 4" descr="Picture 4"/>
          <p:cNvPicPr>
            <a:picLocks noChangeAspect="1"/>
          </p:cNvPicPr>
          <p:nvPr/>
        </p:nvPicPr>
        <p:blipFill>
          <a:blip r:embed="rId2">
            <a:extLst/>
          </a:blip>
          <a:stretch>
            <a:fillRect/>
          </a:stretch>
        </p:blipFill>
        <p:spPr>
          <a:xfrm>
            <a:off x="2543299" y="1954288"/>
            <a:ext cx="7379229" cy="435133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Content Placeholder 2"/>
          <p:cNvSpPr txBox="1"/>
          <p:nvPr>
            <p:ph type="body" idx="1"/>
          </p:nvPr>
        </p:nvSpPr>
        <p:spPr>
          <a:xfrm>
            <a:off x="838200" y="782320"/>
            <a:ext cx="10515600" cy="5394643"/>
          </a:xfrm>
          <a:prstGeom prst="rect">
            <a:avLst/>
          </a:prstGeom>
        </p:spPr>
        <p:txBody>
          <a:bodyPr/>
          <a:lstStyle>
            <a:lvl1pPr>
              <a:defRPr sz="2400" u="sng">
                <a:solidFill>
                  <a:srgbClr val="595959"/>
                </a:solidFill>
              </a:defRPr>
            </a:lvl1pPr>
          </a:lstStyle>
          <a:p>
            <a:pPr/>
            <a:r>
              <a:t>Architecture Diagram</a:t>
            </a:r>
          </a:p>
        </p:txBody>
      </p:sp>
      <p:pic>
        <p:nvPicPr>
          <p:cNvPr id="134" name="Picture 4" descr="Picture 4"/>
          <p:cNvPicPr>
            <a:picLocks noChangeAspect="1"/>
          </p:cNvPicPr>
          <p:nvPr/>
        </p:nvPicPr>
        <p:blipFill>
          <a:blip r:embed="rId2">
            <a:extLst/>
          </a:blip>
          <a:srcRect l="0" t="5595" r="0" b="3162"/>
          <a:stretch>
            <a:fillRect/>
          </a:stretch>
        </p:blipFill>
        <p:spPr>
          <a:xfrm>
            <a:off x="571189" y="1168717"/>
            <a:ext cx="11049622" cy="5110163"/>
          </a:xfrm>
          <a:prstGeom prst="rect">
            <a:avLst/>
          </a:prstGeom>
          <a:ln w="12700">
            <a:miter lim="400000"/>
          </a:ln>
        </p:spPr>
      </p:pic>
      <p:sp>
        <p:nvSpPr>
          <p:cNvPr id="135" name="Arch key"/>
          <p:cNvSpPr txBox="1"/>
          <p:nvPr/>
        </p:nvSpPr>
        <p:spPr>
          <a:xfrm>
            <a:off x="616909" y="6330000"/>
            <a:ext cx="10958181" cy="4700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defRPr b="1" sz="1000"/>
            </a:pPr>
            <a:r>
              <a:t>Key:  </a:t>
            </a:r>
            <a:r>
              <a:rPr b="0"/>
              <a:t>Shipped = dense retrieval (arctic-embed-m).   Tested and rejected = BM25 fusion, query compression.   Planned = cross-encoder reranking, version-aware caching.</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Demo &amp; Product Walkthrough</a:t>
            </a:r>
          </a:p>
        </p:txBody>
      </p:sp>
      <p:sp>
        <p:nvSpPr>
          <p:cNvPr id="138" name="Content Placeholder 2"/>
          <p:cNvSpPr txBox="1"/>
          <p:nvPr>
            <p:ph type="body"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Tools and tech stack used</a:t>
            </a:r>
          </a:p>
        </p:txBody>
      </p:sp>
      <p:sp>
        <p:nvSpPr>
          <p:cNvPr id="141" name="Content Placeholder 2"/>
          <p:cNvSpPr txBox="1"/>
          <p:nvPr>
            <p:ph type="body" idx="1"/>
          </p:nvPr>
        </p:nvSpPr>
        <p:spPr>
          <a:prstGeom prst="rect">
            <a:avLst/>
          </a:prstGeom>
        </p:spPr>
        <p:txBody>
          <a:bodyPr/>
          <a:lstStyle/>
          <a:p>
            <a:pPr>
              <a:lnSpc>
                <a:spcPct val="150000"/>
              </a:lnSpc>
              <a:defRPr sz="1600" u="sng">
                <a:solidFill>
                  <a:srgbClr val="595959"/>
                </a:solidFill>
              </a:defRPr>
            </a:pPr>
            <a:r>
              <a:t>Language</a:t>
            </a:r>
            <a:r>
              <a:rPr u="none"/>
              <a:t>: Python 3.11</a:t>
            </a:r>
            <a:endParaRPr sz="2500"/>
          </a:p>
          <a:p>
            <a:pPr>
              <a:lnSpc>
                <a:spcPct val="150000"/>
              </a:lnSpc>
              <a:defRPr sz="1600" u="sng">
                <a:solidFill>
                  <a:srgbClr val="595959"/>
                </a:solidFill>
              </a:defRPr>
            </a:pPr>
            <a:r>
              <a:t>ML/retrieval</a:t>
            </a:r>
            <a:r>
              <a:rPr u="none"/>
              <a:t>: PyTorch 2.14.0 (CPU build), sentence-transformers 6.0.1, transformers 5.17.0, MTEB 2.20.11 (AppsRetrieval task, v2 API)</a:t>
            </a:r>
            <a:endParaRPr sz="2500"/>
          </a:p>
          <a:p>
            <a:pPr>
              <a:lnSpc>
                <a:spcPct val="150000"/>
              </a:lnSpc>
              <a:defRPr sz="1600" u="sng">
                <a:solidFill>
                  <a:srgbClr val="595959"/>
                </a:solidFill>
              </a:defRPr>
            </a:pPr>
            <a:r>
              <a:t>Numerics</a:t>
            </a:r>
            <a:r>
              <a:rPr u="none"/>
              <a:t>: NumPy 2.4.6</a:t>
            </a:r>
            <a:endParaRPr sz="2500"/>
          </a:p>
          <a:p>
            <a:pPr>
              <a:lnSpc>
                <a:spcPct val="150000"/>
              </a:lnSpc>
              <a:defRPr sz="1600" u="sng">
                <a:solidFill>
                  <a:srgbClr val="595959"/>
                </a:solidFill>
              </a:defRPr>
            </a:pPr>
            <a:r>
              <a:t>Diagnostics</a:t>
            </a:r>
            <a:r>
              <a:rPr u="none"/>
              <a:t>: rank_bm25 (used only for testing, not in the final pipeline)</a:t>
            </a:r>
            <a:endParaRPr sz="2500"/>
          </a:p>
          <a:p>
            <a:pPr>
              <a:lnSpc>
                <a:spcPct val="150000"/>
              </a:lnSpc>
              <a:defRPr sz="1600" u="sng">
                <a:solidFill>
                  <a:srgbClr val="595959"/>
                </a:solidFill>
              </a:defRPr>
            </a:pPr>
            <a:r>
              <a:t>Testing</a:t>
            </a:r>
            <a:r>
              <a:rPr u="none"/>
              <a:t>: pytest, with a correctness suite (determinism, payload checks, self-retrieval sanity, version guard)</a:t>
            </a:r>
            <a:endParaRPr sz="2500"/>
          </a:p>
          <a:p>
            <a:pPr>
              <a:lnSpc>
                <a:spcPct val="150000"/>
              </a:lnSpc>
              <a:defRPr sz="1600" u="sng">
                <a:solidFill>
                  <a:srgbClr val="595959"/>
                </a:solidFill>
              </a:defRPr>
            </a:pPr>
            <a:r>
              <a:t>Packaging</a:t>
            </a:r>
            <a:r>
              <a:rPr u="none"/>
              <a:t>: Docker (CPU-only image, model and dataset included so the graded run needs no internet)</a:t>
            </a:r>
            <a:endParaRPr sz="2500"/>
          </a:p>
          <a:p>
            <a:pPr>
              <a:lnSpc>
                <a:spcPct val="150000"/>
              </a:lnSpc>
              <a:defRPr sz="1600" u="sng">
                <a:solidFill>
                  <a:srgbClr val="595959"/>
                </a:solidFill>
              </a:defRPr>
            </a:pPr>
            <a:r>
              <a:t>Dataset</a:t>
            </a:r>
            <a:r>
              <a:rPr u="none"/>
              <a:t>: CoIR-Retrieval/apps (8,765 snippets; 5,000 train and 3,765 test queries, one correct answer per query)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Impact &amp; Use case</a:t>
            </a:r>
          </a:p>
        </p:txBody>
      </p:sp>
      <p:sp>
        <p:nvSpPr>
          <p:cNvPr id="144" name="Content Placeholder 2"/>
          <p:cNvSpPr txBox="1"/>
          <p:nvPr>
            <p:ph type="body" idx="1"/>
          </p:nvPr>
        </p:nvSpPr>
        <p:spPr>
          <a:prstGeom prst="rect">
            <a:avLst/>
          </a:prstGeom>
        </p:spPr>
        <p:txBody>
          <a:bodyPr/>
          <a:lstStyle/>
          <a:p>
            <a:pPr>
              <a:lnSpc>
                <a:spcPct val="150000"/>
              </a:lnSpc>
              <a:defRPr sz="2000">
                <a:solidFill>
                  <a:srgbClr val="595959"/>
                </a:solidFill>
              </a:defRPr>
            </a:pPr>
            <a:r>
              <a:t>Code retrieval is the slow step in AI coding tools. Before an AI agent can fix a bug or add a feature, it has to find the right file and the right block of code. This gets harder as the codebase grows.</a:t>
            </a:r>
          </a:p>
          <a:p>
            <a:pPr>
              <a:lnSpc>
                <a:spcPct val="150000"/>
              </a:lnSpc>
              <a:defRPr sz="2000">
                <a:solidFill>
                  <a:srgbClr val="595959"/>
                </a:solidFill>
              </a:defRPr>
            </a:pPr>
          </a:p>
          <a:p>
            <a:pPr>
              <a:lnSpc>
                <a:spcPct val="150000"/>
              </a:lnSpc>
              <a:defRPr sz="2000" u="sng">
                <a:solidFill>
                  <a:srgbClr val="595959"/>
                </a:solidFill>
              </a:defRPr>
            </a:pPr>
            <a:r>
              <a:t>Use case</a:t>
            </a:r>
            <a:r>
              <a:rPr u="none"/>
              <a:t>: point the retriever at a codebase (or its change history, for the P1 goal) and get back the top matching snippets for a plain-English query. It is the search layer an AI coding agent needs before it can act, without loading the whole codebase into an LLM.</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Innovation highlights, results and limitations</a:t>
            </a:r>
          </a:p>
        </p:txBody>
      </p:sp>
      <p:sp>
        <p:nvSpPr>
          <p:cNvPr id="147" name="Content Placeholder 2"/>
          <p:cNvSpPr txBox="1"/>
          <p:nvPr>
            <p:ph type="body" idx="1"/>
          </p:nvPr>
        </p:nvSpPr>
        <p:spPr>
          <a:prstGeom prst="rect">
            <a:avLst/>
          </a:prstGeom>
        </p:spPr>
        <p:txBody>
          <a:bodyPr/>
          <a:lstStyle/>
          <a:p>
            <a:pPr>
              <a:defRPr sz="1800" u="sng">
                <a:solidFill>
                  <a:srgbClr val="595959"/>
                </a:solidFill>
              </a:defRPr>
            </a:pPr>
            <a:r>
              <a:t>Results</a:t>
            </a:r>
            <a:r>
              <a:rPr u="none"/>
              <a:t>:</a:t>
            </a:r>
            <a:endParaRPr u="none"/>
          </a:p>
          <a:p>
            <a:pPr marL="0" indent="0">
              <a:buSzTx/>
              <a:buNone/>
              <a:defRPr sz="1800">
                <a:solidFill>
                  <a:srgbClr val="595959"/>
                </a:solidFill>
              </a:defRPr>
            </a:pPr>
            <a:r>
              <a:t>     - Baseline (all-MiniLM, no preprocessing): NDCG@10 0.066, MRR 0.056</a:t>
            </a:r>
          </a:p>
          <a:p>
            <a:pPr marL="0" indent="0">
              <a:buSzTx/>
              <a:buNone/>
              <a:defRPr sz="1800">
                <a:solidFill>
                  <a:srgbClr val="595959"/>
                </a:solidFill>
              </a:defRPr>
            </a:pPr>
            <a:r>
              <a:t>     - Current best (arctic-embed-m): NDCG@10 0.082, MRR 0.068 (up 24.7% on NDCG@10); recall@100 0.307 (up 21.4%). Scores are low across this benchmark, so ranking against other teams is what counts.</a:t>
            </a:r>
          </a:p>
          <a:p>
            <a:pPr>
              <a:defRPr sz="1800">
                <a:solidFill>
                  <a:srgbClr val="595959"/>
                </a:solidFill>
              </a:defRPr>
            </a:pPr>
          </a:p>
          <a:p>
            <a:pPr>
              <a:defRPr sz="1800" u="sng">
                <a:solidFill>
                  <a:srgbClr val="595959"/>
                </a:solidFill>
              </a:defRPr>
            </a:pPr>
            <a:r>
              <a:t>Innovation highlight</a:t>
            </a:r>
            <a:r>
              <a:rPr u="none"/>
              <a:t>: we measured before we built. We tested two likely improvements (BM25 fusion and query compression) with their own scripts before adding them. Both were rejected with clear evidence instead of assumed to help.</a:t>
            </a:r>
            <a:endParaRPr u="none"/>
          </a:p>
          <a:p>
            <a:pPr>
              <a:defRPr sz="1800">
                <a:solidFill>
                  <a:srgbClr val="595959"/>
                </a:solidFill>
              </a:defRPr>
            </a:pPr>
          </a:p>
          <a:p>
            <a:pPr>
              <a:defRPr sz="1800" u="sng">
                <a:solidFill>
                  <a:srgbClr val="595959"/>
                </a:solidFill>
              </a:defRPr>
            </a:pPr>
            <a:r>
              <a:t>Limitation, stated plainly</a:t>
            </a:r>
            <a:r>
              <a:rPr u="none"/>
              <a:t>: recall@100 is 0.307, so for most queries the correct snippet is not even in the top 100. This caps everything after it, including any future reranker. Query length predicts failure even with no truncation (short queries: 0.894 recall; long queries: 0.545). This points to the encoder itself as the real lever, not input cleanup.</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What’s next</a:t>
            </a:r>
          </a:p>
        </p:txBody>
      </p:sp>
      <p:sp>
        <p:nvSpPr>
          <p:cNvPr id="150" name="Content Placeholder 2"/>
          <p:cNvSpPr txBox="1"/>
          <p:nvPr>
            <p:ph type="body" idx="1"/>
          </p:nvPr>
        </p:nvSpPr>
        <p:spPr>
          <a:prstGeom prst="rect">
            <a:avLst/>
          </a:prstGeom>
        </p:spPr>
        <p:txBody>
          <a:bodyPr/>
          <a:lstStyle/>
          <a:p>
            <a:pPr>
              <a:lnSpc>
                <a:spcPct val="150000"/>
              </a:lnSpc>
              <a:defRPr sz="2000" u="sng">
                <a:solidFill>
                  <a:srgbClr val="595959"/>
                </a:solidFill>
              </a:defRPr>
            </a:pPr>
            <a:r>
              <a:t>Top priority</a:t>
            </a:r>
            <a:r>
              <a:rPr u="none"/>
              <a:t>: fine-tune or mine hard negatives on the 5,000-pair train split. Our tests showed the encoder does not use a query's later words well, so the headroom is in the encoder, not the input.</a:t>
            </a:r>
            <a:endParaRPr u="none"/>
          </a:p>
          <a:p>
            <a:pPr>
              <a:lnSpc>
                <a:spcPct val="150000"/>
              </a:lnSpc>
              <a:defRPr sz="2000">
                <a:solidFill>
                  <a:srgbClr val="595959"/>
                </a:solidFill>
              </a:defRPr>
            </a:pPr>
          </a:p>
          <a:p>
            <a:pPr>
              <a:lnSpc>
                <a:spcPct val="150000"/>
              </a:lnSpc>
              <a:defRPr sz="2000" u="sng">
                <a:solidFill>
                  <a:srgbClr val="595959"/>
                </a:solidFill>
              </a:defRPr>
            </a:pPr>
            <a:r>
              <a:t>Also backlogged</a:t>
            </a:r>
            <a:r>
              <a:rPr u="none"/>
              <a:t>: index the unused meta_information.starter_code field (currently unused), add cross-encoder reranking on the top-k, and switch to a code-specific encoder.</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Brownie points slide (differentiation)</a:t>
            </a:r>
          </a:p>
        </p:txBody>
      </p:sp>
      <p:sp>
        <p:nvSpPr>
          <p:cNvPr id="153" name="Content Placeholder 2"/>
          <p:cNvSpPr txBox="1"/>
          <p:nvPr>
            <p:ph type="body" idx="1"/>
          </p:nvPr>
        </p:nvSpPr>
        <p:spPr>
          <a:prstGeom prst="rect">
            <a:avLst/>
          </a:prstGeom>
        </p:spPr>
        <p:txBody>
          <a:bodyPr/>
          <a:lstStyle/>
          <a:p>
            <a:pPr>
              <a:defRPr sz="1600" u="sng">
                <a:solidFill>
                  <a:srgbClr val="595959"/>
                </a:solidFill>
              </a:defRPr>
            </a:pPr>
            <a:r>
              <a:t>Evidence over assumption</a:t>
            </a:r>
            <a:r>
              <a:rPr u="none"/>
              <a:t>: every component choice (BM25 fusion, query compression) was tested with a script before we built it, and rejected with numbers, not guesses. Negative results are logged, not thrown away. </a:t>
            </a:r>
            <a:endParaRPr sz="2500"/>
          </a:p>
          <a:p>
            <a:pPr>
              <a:defRPr sz="1800">
                <a:solidFill>
                  <a:srgbClr val="595959"/>
                </a:solidFill>
              </a:defRPr>
            </a:pPr>
          </a:p>
          <a:p>
            <a:pPr>
              <a:defRPr sz="1600" u="sng">
                <a:solidFill>
                  <a:srgbClr val="595959"/>
                </a:solidFill>
              </a:defRPr>
            </a:pPr>
            <a:r>
              <a:t>Train/test discipline held strictly</a:t>
            </a:r>
            <a:r>
              <a:rPr u="none"/>
              <a:t>: all tuning happens on the train split. The test split is used only for the official baseline and the final run, so there is no leakage. </a:t>
            </a:r>
            <a:endParaRPr sz="2500"/>
          </a:p>
          <a:p>
            <a:pPr>
              <a:defRPr sz="1800">
                <a:solidFill>
                  <a:srgbClr val="595959"/>
                </a:solidFill>
              </a:defRPr>
            </a:pPr>
          </a:p>
          <a:p>
            <a:pPr>
              <a:defRPr sz="1600" u="sng">
                <a:solidFill>
                  <a:srgbClr val="595959"/>
                </a:solidFill>
              </a:defRPr>
            </a:pPr>
            <a:r>
              <a:t>Root-caused the actual bottleneck instead of chasing symptoms</a:t>
            </a:r>
            <a:r>
              <a:rPr u="none"/>
              <a:t>: we showed query length predicts failure even with no truncation, which moves effort from input cleanup to the encoder. Most teams would guess this; we measured it.</a:t>
            </a:r>
            <a:endParaRPr sz="2500"/>
          </a:p>
          <a:p>
            <a:pPr>
              <a:defRPr sz="1800">
                <a:solidFill>
                  <a:srgbClr val="595959"/>
                </a:solidFill>
              </a:defRPr>
            </a:pPr>
          </a:p>
          <a:p>
            <a:pPr>
              <a:defRPr sz="1600">
                <a:solidFill>
                  <a:srgbClr val="595959"/>
                </a:solidFill>
              </a:defRPr>
            </a:pPr>
            <a:r>
              <a:t> </a:t>
            </a:r>
            <a:r>
              <a:rPr u="sng"/>
              <a:t>Reproducibility built in from the start</a:t>
            </a:r>
            <a:r>
              <a:t>: pinned versions, a correctness test suite (determinism, payload checks, self-retrieval sanity), and a CPU-only Docker image with the model and dataset included, so the graded run needs no internet.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Checklist- Updated on Public GitHub</a:t>
            </a:r>
          </a:p>
        </p:txBody>
      </p:sp>
      <p:sp>
        <p:nvSpPr>
          <p:cNvPr id="156" name="Content Placeholder 2"/>
          <p:cNvSpPr txBox="1"/>
          <p:nvPr>
            <p:ph type="body" idx="1"/>
          </p:nvPr>
        </p:nvSpPr>
        <p:spPr>
          <a:prstGeom prst="rect">
            <a:avLst/>
          </a:prstGeom>
        </p:spPr>
        <p:txBody>
          <a:bodyPr/>
          <a:lstStyle/>
          <a:p>
            <a:pPr marL="177800" indent="-177800">
              <a:defRPr sz="2000">
                <a:solidFill>
                  <a:srgbClr val="595959"/>
                </a:solidFill>
              </a:defRPr>
            </a:pPr>
            <a:r>
              <a:t>Working prototype code — public or shared GitHub repo: YES</a:t>
            </a:r>
          </a:p>
          <a:p>
            <a:pPr marL="177800" indent="-177800">
              <a:defRPr sz="2000">
                <a:solidFill>
                  <a:srgbClr val="595959"/>
                </a:solidFill>
              </a:defRPr>
            </a:pPr>
            <a:r>
              <a:t>README with reproducible setup instructions: YES</a:t>
            </a:r>
          </a:p>
          <a:p>
            <a:pPr marL="177800" indent="-177800">
              <a:defRPr sz="2000">
                <a:solidFill>
                  <a:srgbClr val="595959"/>
                </a:solidFill>
              </a:defRPr>
            </a:pPr>
            <a:r>
              <a:t>Demo video, max 5 minutes (YouTube or Drive link): YES</a:t>
            </a:r>
          </a:p>
          <a:p>
            <a:pPr marL="177800" indent="-177800">
              <a:defRPr sz="2000">
                <a:solidFill>
                  <a:srgbClr val="595959"/>
                </a:solidFill>
              </a:defRPr>
            </a:pPr>
            <a:r>
              <a:t>Presentation file (PPT or PDF): YES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ext 0"/>
          <p:cNvSpPr txBox="1"/>
          <p:nvPr/>
        </p:nvSpPr>
        <p:spPr>
          <a:xfrm>
            <a:off x="1046181" y="3831210"/>
            <a:ext cx="6766560" cy="6666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600">
                <a:solidFill>
                  <a:srgbClr val="14142B"/>
                </a:solidFill>
                <a:latin typeface="Arial"/>
                <a:ea typeface="Arial"/>
                <a:cs typeface="Arial"/>
                <a:sym typeface="Arial"/>
              </a:defRPr>
            </a:lvl1pPr>
          </a:lstStyle>
          <a:p>
            <a:pPr/>
            <a:r>
              <a:t>Thank you</a:t>
            </a:r>
          </a:p>
        </p:txBody>
      </p:sp>
      <p:sp>
        <p:nvSpPr>
          <p:cNvPr id="159" name="Text 25"/>
          <p:cNvSpPr txBox="1"/>
          <p:nvPr/>
        </p:nvSpPr>
        <p:spPr>
          <a:xfrm>
            <a:off x="777239" y="5977049"/>
            <a:ext cx="10607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3637E"/>
                </a:solidFill>
              </a:defRPr>
            </a:lvl1pPr>
          </a:lstStyle>
          <a:p>
            <a:pPr/>
            <a:r>
              <a:t>Organised by the Language AI Team and the PRISM Team, Samsung R&amp;D Institute India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